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BDEEB9-B332-4420-BCDF-E711620E70C7}" v="2" dt="2026-08-05T04:01:53.6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91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 ." userId="06141a61f3c6bacb" providerId="LiveId" clId="{277CD97A-E58D-4694-80CF-AD8DF42E2C56}"/>
    <pc:docChg chg="custSel modSld">
      <pc:chgData name="Min ." userId="06141a61f3c6bacb" providerId="LiveId" clId="{277CD97A-E58D-4694-80CF-AD8DF42E2C56}" dt="2026-08-05T04:05:12.483" v="299" actId="1076"/>
      <pc:docMkLst>
        <pc:docMk/>
      </pc:docMkLst>
      <pc:sldChg chg="addSp delSp modSp mod">
        <pc:chgData name="Min ." userId="06141a61f3c6bacb" providerId="LiveId" clId="{277CD97A-E58D-4694-80CF-AD8DF42E2C56}" dt="2026-08-05T04:05:12.483" v="299" actId="1076"/>
        <pc:sldMkLst>
          <pc:docMk/>
          <pc:sldMk cId="0" sldId="262"/>
        </pc:sldMkLst>
        <pc:spChg chg="mod">
          <ac:chgData name="Min ." userId="06141a61f3c6bacb" providerId="LiveId" clId="{277CD97A-E58D-4694-80CF-AD8DF42E2C56}" dt="2026-08-05T04:05:12.483" v="299" actId="1076"/>
          <ac:spMkLst>
            <pc:docMk/>
            <pc:sldMk cId="0" sldId="262"/>
            <ac:spMk id="4" creationId="{00000000-0000-0000-0000-000000000000}"/>
          </ac:spMkLst>
        </pc:spChg>
        <pc:spChg chg="mod">
          <ac:chgData name="Min ." userId="06141a61f3c6bacb" providerId="LiveId" clId="{277CD97A-E58D-4694-80CF-AD8DF42E2C56}" dt="2026-08-05T04:05:09.250" v="298" actId="1076"/>
          <ac:spMkLst>
            <pc:docMk/>
            <pc:sldMk cId="0" sldId="262"/>
            <ac:spMk id="5" creationId="{00000000-0000-0000-0000-000000000000}"/>
          </ac:spMkLst>
        </pc:spChg>
        <pc:picChg chg="add del mod">
          <ac:chgData name="Min ." userId="06141a61f3c6bacb" providerId="LiveId" clId="{277CD97A-E58D-4694-80CF-AD8DF42E2C56}" dt="2026-08-05T04:03:28.579" v="288" actId="21"/>
          <ac:picMkLst>
            <pc:docMk/>
            <pc:sldMk cId="0" sldId="262"/>
            <ac:picMk id="7" creationId="{88D28DF4-9172-4EFC-B485-B82CC09243BD}"/>
          </ac:picMkLst>
        </pc:picChg>
        <pc:picChg chg="add mod">
          <ac:chgData name="Min ." userId="06141a61f3c6bacb" providerId="LiveId" clId="{277CD97A-E58D-4694-80CF-AD8DF42E2C56}" dt="2026-08-05T04:04:11.700" v="296" actId="14100"/>
          <ac:picMkLst>
            <pc:docMk/>
            <pc:sldMk cId="0" sldId="262"/>
            <ac:picMk id="9" creationId="{B990D86E-160C-BC59-7AF7-5146B875B9C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441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35" y="259690"/>
            <a:ext cx="2323490" cy="539496"/>
          </a:xfrm>
          <a:prstGeom prst="rect">
            <a:avLst/>
          </a:prstGeom>
        </p:spPr>
      </p:pic>
      <p:pic>
        <p:nvPicPr>
          <p:cNvPr id="3" name="Image 1" descr="/home/claude/work/assets/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2" y="172822"/>
            <a:ext cx="2146097" cy="71231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5924" y="1292118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J.A.R.V.I.S</a:t>
            </a:r>
            <a:endParaRPr lang="en-US" sz="4800" dirty="0"/>
          </a:p>
        </p:txBody>
      </p:sp>
      <p:sp>
        <p:nvSpPr>
          <p:cNvPr id="5" name="Text 1"/>
          <p:cNvSpPr/>
          <p:nvPr/>
        </p:nvSpPr>
        <p:spPr>
          <a:xfrm>
            <a:off x="1828800" y="2796375"/>
            <a:ext cx="8531352" cy="1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0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 Rather Very Intelligent System</a:t>
            </a:r>
            <a:endParaRPr lang="en-US" sz="3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30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Desktop Virtual Assistant 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915924" y="4329933"/>
            <a:ext cx="10360152" cy="1916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Semester-4 Web Development Application Using PHP Subject Final Examination  |  Academic Year 2025-26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35" y="259690"/>
            <a:ext cx="2323490" cy="539496"/>
          </a:xfrm>
          <a:prstGeom prst="rect">
            <a:avLst/>
          </a:prstGeom>
        </p:spPr>
      </p:pic>
      <p:pic>
        <p:nvPicPr>
          <p:cNvPr id="3" name="Image 1" descr="/home/claude/work/assets/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2" y="172822"/>
            <a:ext cx="2146097" cy="71231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9905" y="274320"/>
            <a:ext cx="10972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Information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609905" y="1600200"/>
            <a:ext cx="1097280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92400527161 – Miral Dhankecha</a:t>
            </a:r>
            <a:endParaRPr lang="en-US" sz="2500" dirty="0"/>
          </a:p>
        </p:txBody>
      </p:sp>
      <p:sp>
        <p:nvSpPr>
          <p:cNvPr id="6" name="Text 2"/>
          <p:cNvSpPr/>
          <p:nvPr/>
        </p:nvSpPr>
        <p:spPr>
          <a:xfrm>
            <a:off x="609295" y="2286000"/>
            <a:ext cx="5486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Guide</a:t>
            </a:r>
            <a:endParaRPr lang="en-US" sz="2500" dirty="0"/>
          </a:p>
          <a:p>
            <a:pPr marL="0" indent="0">
              <a:buNone/>
            </a:pPr>
            <a:r>
              <a:rPr lang="en-US" sz="25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Tejas Chauhan</a:t>
            </a:r>
            <a:endParaRPr lang="en-US" sz="2500" dirty="0"/>
          </a:p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</a:t>
            </a:r>
            <a:endParaRPr lang="en-US" sz="2500" dirty="0"/>
          </a:p>
          <a:p>
            <a:pPr marL="0" indent="0">
              <a:buNone/>
            </a:pPr>
            <a:r>
              <a:rPr lang="en-US" sz="25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26</a:t>
            </a:r>
            <a:endParaRPr lang="en-US" sz="2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35" y="259690"/>
            <a:ext cx="2323490" cy="539496"/>
          </a:xfrm>
          <a:prstGeom prst="rect">
            <a:avLst/>
          </a:prstGeom>
        </p:spPr>
      </p:pic>
      <p:pic>
        <p:nvPicPr>
          <p:cNvPr id="3" name="Image 1" descr="/home/claude/work/assets/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2" y="172822"/>
            <a:ext cx="2146097" cy="71231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9905" y="274320"/>
            <a:ext cx="10972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609905" y="1600200"/>
            <a:ext cx="1097280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repetitive computer operations reduce efficiency and productivity</a:t>
            </a:r>
            <a:endParaRPr lang="en-US" sz="25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systems need direct keyboard/mouse interaction for every task</a:t>
            </a:r>
            <a:endParaRPr lang="en-US" sz="25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desktop assistants lack voice interaction, memory &amp; real-time automation</a:t>
            </a:r>
            <a:endParaRPr lang="en-US" sz="25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platform for automation, weather updates, file handling &amp; history</a:t>
            </a:r>
            <a:endParaRPr lang="en-US" sz="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35" y="259690"/>
            <a:ext cx="2323490" cy="539496"/>
          </a:xfrm>
          <a:prstGeom prst="rect">
            <a:avLst/>
          </a:prstGeom>
        </p:spPr>
      </p:pic>
      <p:pic>
        <p:nvPicPr>
          <p:cNvPr id="3" name="Image 1" descr="/home/claude/work/assets/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2" y="172822"/>
            <a:ext cx="2146097" cy="71231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9905" y="274320"/>
            <a:ext cx="10972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Solution: Overview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609905" y="1600200"/>
            <a:ext cx="10972800" cy="342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intelligent, AI-based desktop virtual assistant built using PHP, </a:t>
            </a:r>
            <a:r>
              <a:rPr lang="en-US" sz="25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HTML, CSS3 and Python</a:t>
            </a:r>
            <a:endParaRPr lang="en-US" sz="25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both voice-based and text-based command interaction</a:t>
            </a:r>
            <a:endParaRPr lang="en-US" sz="25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desktop automation, browser control, file management &amp; weather reporting</a:t>
            </a:r>
            <a:endParaRPr lang="en-US" sz="25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SQLite database for command history and personalized memory storage</a:t>
            </a:r>
            <a:endParaRPr lang="en-US" sz="25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single, centralized, interactive assistant platform for the user</a:t>
            </a:r>
            <a:endParaRPr lang="en-US" sz="2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35" y="259690"/>
            <a:ext cx="2323490" cy="539496"/>
          </a:xfrm>
          <a:prstGeom prst="rect">
            <a:avLst/>
          </a:prstGeom>
        </p:spPr>
      </p:pic>
      <p:pic>
        <p:nvPicPr>
          <p:cNvPr id="3" name="Image 1" descr="/home/claude/work/assets/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2" y="172822"/>
            <a:ext cx="2146097" cy="71231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9905" y="274320"/>
            <a:ext cx="10972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609905" y="1600200"/>
            <a:ext cx="53035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Interaction – speech recognition based commands</a:t>
            </a:r>
            <a:endParaRPr lang="en-US" sz="2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Command Support – interaction using typing mode</a:t>
            </a:r>
            <a:endParaRPr lang="en-US" sz="2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Automation – open &amp; close desktop apps</a:t>
            </a:r>
            <a:endParaRPr lang="en-US" sz="2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Automation – search internet &amp; play songs online</a:t>
            </a:r>
            <a:endParaRPr lang="en-US" sz="2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Information – live weather updates via API</a:t>
            </a:r>
            <a:endParaRPr lang="en-US" sz="2500" dirty="0"/>
          </a:p>
        </p:txBody>
      </p:sp>
      <p:sp>
        <p:nvSpPr>
          <p:cNvPr id="6" name="Text 2"/>
          <p:cNvSpPr/>
          <p:nvPr/>
        </p:nvSpPr>
        <p:spPr>
          <a:xfrm>
            <a:off x="6217920" y="1600200"/>
            <a:ext cx="53035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Management – create, open &amp; delete files/folders</a:t>
            </a:r>
            <a:endParaRPr lang="en-US" sz="2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System – stores user-related information</a:t>
            </a:r>
            <a:endParaRPr lang="en-US" sz="2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History – saves past commands &amp; responses</a:t>
            </a:r>
            <a:endParaRPr lang="en-US" sz="2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Interface – interactive interface using CustomTkinter</a:t>
            </a:r>
            <a:endParaRPr lang="en-US" sz="2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System – usage statistics displayed via charts</a:t>
            </a:r>
            <a:endParaRPr lang="en-US" sz="2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35" y="259690"/>
            <a:ext cx="2323490" cy="539496"/>
          </a:xfrm>
          <a:prstGeom prst="rect">
            <a:avLst/>
          </a:prstGeom>
        </p:spPr>
      </p:pic>
      <p:pic>
        <p:nvPicPr>
          <p:cNvPr id="3" name="Image 1" descr="/home/claude/work/assets/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2" y="172822"/>
            <a:ext cx="2146097" cy="71231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9905" y="274320"/>
            <a:ext cx="10972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609905" y="1600200"/>
            <a:ext cx="1097280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Software: Python 3.x, SQLite, Visual Studio Code</a:t>
            </a:r>
            <a:endParaRPr lang="en-US" sz="25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Libraries: CustomTkinter, SpeechRecognition, pyttsx3</a:t>
            </a:r>
            <a:endParaRPr lang="en-US" sz="25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Libraries: Matplotlib, psutil, Geocoder</a:t>
            </a:r>
            <a:endParaRPr lang="en-US" sz="25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Service: OpenWeather API for live weather data</a:t>
            </a:r>
            <a:endParaRPr lang="en-US" sz="25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Windows Desktop Application</a:t>
            </a:r>
            <a:endParaRPr lang="en-US" sz="2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35" y="259690"/>
            <a:ext cx="2323490" cy="539496"/>
          </a:xfrm>
          <a:prstGeom prst="rect">
            <a:avLst/>
          </a:prstGeom>
        </p:spPr>
      </p:pic>
      <p:pic>
        <p:nvPicPr>
          <p:cNvPr id="3" name="Image 1" descr="/home/claude/work/assets/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2" y="172822"/>
            <a:ext cx="2146097" cy="71231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9905" y="227686"/>
            <a:ext cx="10972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609295" y="1128440"/>
            <a:ext cx="10972800" cy="5549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HTML: Structure of webpages</a:t>
            </a:r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CSS3: user interface design &amp; styling</a:t>
            </a:r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23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r>
              <a:rPr lang="en-US" sz="2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Clint-side interactivity</a:t>
            </a:r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PHP: Backend development &amp; server logic </a:t>
            </a:r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Server: Web server environment</a:t>
            </a:r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23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Laragon</a:t>
            </a:r>
            <a:r>
              <a:rPr lang="en-US" sz="2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Local development environment</a:t>
            </a:r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/ Frontend: CustomTkinter (modern Python </a:t>
            </a:r>
          </a:p>
          <a:p>
            <a:pPr algn="l">
              <a:spcAft>
                <a:spcPts val="1000"/>
              </a:spcAft>
              <a:buSzPct val="100000"/>
            </a:pPr>
            <a:r>
              <a:rPr lang="en-US" sz="2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library)</a:t>
            </a:r>
            <a:endParaRPr lang="en-US" sz="23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Core Logic: Python</a:t>
            </a:r>
            <a:endParaRPr lang="en-US" sz="23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SQLite (jarvis.db)</a:t>
            </a:r>
            <a:endParaRPr lang="en-US" sz="23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Voice: SpeechRecognition (input) &amp; pyttsx3 (output)</a:t>
            </a:r>
            <a:endParaRPr lang="en-US" sz="23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VS Code, OpenWeather API, Matplotlib, </a:t>
            </a:r>
            <a:r>
              <a:rPr lang="en-US" sz="23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psutil</a:t>
            </a:r>
            <a:endParaRPr lang="en-US" sz="23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l">
              <a:spcAft>
                <a:spcPts val="1000"/>
              </a:spcAft>
              <a:buSzPct val="100000"/>
            </a:pPr>
            <a:endParaRPr lang="en-US" sz="25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90D86E-160C-BC59-7AF7-5146B875B9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9970" y="1840979"/>
            <a:ext cx="5588197" cy="42483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35" y="259690"/>
            <a:ext cx="2323490" cy="539496"/>
          </a:xfrm>
          <a:prstGeom prst="rect">
            <a:avLst/>
          </a:prstGeom>
        </p:spPr>
      </p:pic>
      <p:pic>
        <p:nvPicPr>
          <p:cNvPr id="3" name="Image 1" descr="/home/claude/work/assets/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2" y="172822"/>
            <a:ext cx="2146097" cy="71231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9905" y="274320"/>
            <a:ext cx="10972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 Interface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609905" y="1600200"/>
            <a:ext cx="51206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Chat-style conversation window for text &amp; voice interaction</a:t>
            </a:r>
            <a:endParaRPr lang="en-US" sz="2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input box to type commands directly</a:t>
            </a:r>
            <a:endParaRPr lang="en-US" sz="2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 info bar: date, time, CPU, RAM, battery, internet, weather</a:t>
            </a:r>
            <a:endParaRPr lang="en-US" sz="2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indicators: LISTENING / PROCESSING / SYSTEM OFFLINE</a:t>
            </a:r>
            <a:endParaRPr lang="en-US" sz="2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Screenshots :-</a:t>
            </a:r>
            <a:endParaRPr lang="en-US" sz="2500" dirty="0"/>
          </a:p>
        </p:txBody>
      </p:sp>
      <p:sp>
        <p:nvSpPr>
          <p:cNvPr id="6" name="Shape 2"/>
          <p:cNvSpPr/>
          <p:nvPr/>
        </p:nvSpPr>
        <p:spPr>
          <a:xfrm>
            <a:off x="6035040" y="1600200"/>
            <a:ext cx="5577840" cy="4206240"/>
          </a:xfrm>
          <a:prstGeom prst="rect">
            <a:avLst/>
          </a:prstGeom>
          <a:solidFill>
            <a:srgbClr val="F5F5F5"/>
          </a:solidFill>
          <a:ln w="12700">
            <a:solidFill>
              <a:srgbClr val="B0B0B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035040" y="160020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CE50B5-6B4F-C9EA-9B3F-F3C44A52BB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0545" y="1516428"/>
            <a:ext cx="6293618" cy="49145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35" y="259690"/>
            <a:ext cx="2323490" cy="539496"/>
          </a:xfrm>
          <a:prstGeom prst="rect">
            <a:avLst/>
          </a:prstGeom>
        </p:spPr>
      </p:pic>
      <p:pic>
        <p:nvPicPr>
          <p:cNvPr id="3" name="Image 1" descr="/home/claude/work/assets/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2" y="172822"/>
            <a:ext cx="2146097" cy="71231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9905" y="274320"/>
            <a:ext cx="10972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History &amp; Analytics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609905" y="1737360"/>
            <a:ext cx="51206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window lists past commands, responses, time, date &amp; day</a:t>
            </a:r>
            <a:endParaRPr lang="en-US" sz="2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records stored persistently in the SQLite database (jarvis.db)</a:t>
            </a:r>
            <a:endParaRPr lang="en-US" sz="2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module generates usage charts using Matplotlib</a:t>
            </a:r>
            <a:endParaRPr lang="en-US" sz="2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Charts: Successful vs Failed commands, Most-used commands</a:t>
            </a:r>
            <a:endParaRPr lang="en-US" sz="2500" dirty="0"/>
          </a:p>
        </p:txBody>
      </p:sp>
      <p:sp>
        <p:nvSpPr>
          <p:cNvPr id="6" name="Shape 2"/>
          <p:cNvSpPr/>
          <p:nvPr/>
        </p:nvSpPr>
        <p:spPr>
          <a:xfrm>
            <a:off x="6035040" y="1737360"/>
            <a:ext cx="5577840" cy="4069080"/>
          </a:xfrm>
          <a:prstGeom prst="rect">
            <a:avLst/>
          </a:prstGeom>
          <a:solidFill>
            <a:srgbClr val="F5F5F5"/>
          </a:solidFill>
          <a:ln w="12700">
            <a:solidFill>
              <a:srgbClr val="B0B0B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035040" y="1737360"/>
            <a:ext cx="557784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0692D4-0331-3E87-57C9-AF4ED3D31F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0545" y="1518818"/>
            <a:ext cx="6461455" cy="50184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35" y="259690"/>
            <a:ext cx="2323490" cy="539496"/>
          </a:xfrm>
          <a:prstGeom prst="rect">
            <a:avLst/>
          </a:prstGeom>
        </p:spPr>
      </p:pic>
      <p:pic>
        <p:nvPicPr>
          <p:cNvPr id="3" name="Image 1" descr="/home/claude/work/assets/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2" y="172822"/>
            <a:ext cx="2146097" cy="71231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9905" y="274320"/>
            <a:ext cx="10972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609905" y="159015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jarvis.db  (SQLite)</a:t>
            </a:r>
            <a:endParaRPr lang="en-US" sz="26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609905" y="2148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command_history</a:t>
            </a:r>
            <a:endParaRPr lang="en-US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786709"/>
              </p:ext>
            </p:extLst>
          </p:nvPr>
        </p:nvGraphicFramePr>
        <p:xfrm>
          <a:off x="609905" y="2514600"/>
          <a:ext cx="5120640" cy="40538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key, auto increment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the user's command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the assistant's response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/ DATE / DAY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 of command execution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 status (success / failed)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6217920" y="2148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22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56351"/>
              </p:ext>
            </p:extLst>
          </p:nvPr>
        </p:nvGraphicFramePr>
        <p:xfrm>
          <a:off x="6209881" y="2514600"/>
          <a:ext cx="5128679" cy="1889760"/>
        </p:xfrm>
        <a:graphic>
          <a:graphicData uri="http://schemas.openxmlformats.org/drawingml/2006/table">
            <a:tbl>
              <a:tblPr/>
              <a:tblGrid>
                <a:gridCol w="2568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identifier (e.g. name, birthday)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user information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4"/>
          <p:cNvSpPr/>
          <p:nvPr/>
        </p:nvSpPr>
        <p:spPr>
          <a:xfrm>
            <a:off x="6209881" y="4693920"/>
            <a:ext cx="5120640" cy="188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serverless relational database — ideal for desktop apps</a:t>
            </a:r>
            <a:endParaRPr lang="en-US" sz="2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Accessed via Python's built-in sqlite3 library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35" y="259690"/>
            <a:ext cx="2323490" cy="539496"/>
          </a:xfrm>
          <a:prstGeom prst="rect">
            <a:avLst/>
          </a:prstGeom>
        </p:spPr>
      </p:pic>
      <p:pic>
        <p:nvPicPr>
          <p:cNvPr id="3" name="Image 1" descr="/home/claude/work/assets/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2" y="172822"/>
            <a:ext cx="2146097" cy="71231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9905" y="274320"/>
            <a:ext cx="10972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4000" dirty="0"/>
          </a:p>
        </p:txBody>
      </p:sp>
      <p:sp>
        <p:nvSpPr>
          <p:cNvPr id="5" name="Shape 1"/>
          <p:cNvSpPr/>
          <p:nvPr/>
        </p:nvSpPr>
        <p:spPr>
          <a:xfrm>
            <a:off x="4541825" y="1600200"/>
            <a:ext cx="3108960" cy="502920"/>
          </a:xfrm>
          <a:prstGeom prst="roundRect">
            <a:avLst>
              <a:gd name="adj" fmla="val 10909"/>
            </a:avLst>
          </a:prstGeom>
          <a:solidFill>
            <a:srgbClr val="EAF2FB"/>
          </a:solidFill>
          <a:ln w="15875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4541825" y="1600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986577" y="2121408"/>
            <a:ext cx="219456" cy="201168"/>
          </a:xfrm>
          <a:prstGeom prst="downArrow">
            <a:avLst/>
          </a:prstGeom>
          <a:solidFill>
            <a:srgbClr val="8C8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4541825" y="2340864"/>
            <a:ext cx="3108960" cy="502920"/>
          </a:xfrm>
          <a:prstGeom prst="roundRect">
            <a:avLst>
              <a:gd name="adj" fmla="val 10909"/>
            </a:avLst>
          </a:prstGeom>
          <a:solidFill>
            <a:srgbClr val="EAF2FB"/>
          </a:solidFill>
          <a:ln w="15875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4541825" y="234086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/ VOICE INPUT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986577" y="2862072"/>
            <a:ext cx="219456" cy="201168"/>
          </a:xfrm>
          <a:prstGeom prst="downArrow">
            <a:avLst/>
          </a:prstGeom>
          <a:solidFill>
            <a:srgbClr val="8C8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541825" y="3081528"/>
            <a:ext cx="3108960" cy="502920"/>
          </a:xfrm>
          <a:prstGeom prst="roundRect">
            <a:avLst>
              <a:gd name="adj" fmla="val 10909"/>
            </a:avLst>
          </a:prstGeom>
          <a:solidFill>
            <a:srgbClr val="EAF2FB"/>
          </a:solidFill>
          <a:ln w="15875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541825" y="30815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ENGINE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986577" y="3602736"/>
            <a:ext cx="219456" cy="201168"/>
          </a:xfrm>
          <a:prstGeom prst="downArrow">
            <a:avLst/>
          </a:prstGeom>
          <a:solidFill>
            <a:srgbClr val="8C8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541825" y="3822192"/>
            <a:ext cx="3108960" cy="502920"/>
          </a:xfrm>
          <a:prstGeom prst="roundRect">
            <a:avLst>
              <a:gd name="adj" fmla="val 10909"/>
            </a:avLst>
          </a:prstGeom>
          <a:solidFill>
            <a:srgbClr val="EAF2FB"/>
          </a:solidFill>
          <a:ln w="15875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541825" y="38221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ROUTER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096305" y="4325112"/>
            <a:ext cx="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1981505" y="4325112"/>
            <a:ext cx="0" cy="384048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724205" y="4709160"/>
            <a:ext cx="2514600" cy="82296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 w="15875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724205" y="4709160"/>
            <a:ext cx="251460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Apps, files,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control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1981505" y="5532120"/>
            <a:ext cx="0" cy="27432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1981505" y="5806440"/>
            <a:ext cx="411480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6096305" y="4325112"/>
            <a:ext cx="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4724705" y="4325112"/>
            <a:ext cx="0" cy="384048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3467405" y="4709160"/>
            <a:ext cx="2514600" cy="82296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 w="15875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3467405" y="4709160"/>
            <a:ext cx="251460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weather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724705" y="5532120"/>
            <a:ext cx="0" cy="27432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4724705" y="5806440"/>
            <a:ext cx="137160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6096305" y="4325112"/>
            <a:ext cx="137160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7467905" y="4325112"/>
            <a:ext cx="0" cy="384048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210605" y="4709160"/>
            <a:ext cx="2514600" cy="82296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 w="15875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6210605" y="4709160"/>
            <a:ext cx="251460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info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7467905" y="5532120"/>
            <a:ext cx="0" cy="27432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7467905" y="5806440"/>
            <a:ext cx="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6096305" y="4325112"/>
            <a:ext cx="411480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1"/>
          <p:cNvSpPr/>
          <p:nvPr/>
        </p:nvSpPr>
        <p:spPr>
          <a:xfrm>
            <a:off x="10211105" y="4325112"/>
            <a:ext cx="0" cy="384048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8953805" y="4709160"/>
            <a:ext cx="2514600" cy="82296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 w="15875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8953805" y="4709160"/>
            <a:ext cx="251460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history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user data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10211105" y="5532120"/>
            <a:ext cx="0" cy="27432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5"/>
          <p:cNvSpPr/>
          <p:nvPr/>
        </p:nvSpPr>
        <p:spPr>
          <a:xfrm>
            <a:off x="10211105" y="5806440"/>
            <a:ext cx="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6"/>
          <p:cNvSpPr/>
          <p:nvPr/>
        </p:nvSpPr>
        <p:spPr>
          <a:xfrm>
            <a:off x="5986577" y="5715000"/>
            <a:ext cx="219456" cy="182880"/>
          </a:xfrm>
          <a:prstGeom prst="downArrow">
            <a:avLst/>
          </a:prstGeom>
          <a:solidFill>
            <a:srgbClr val="8C8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7"/>
          <p:cNvSpPr/>
          <p:nvPr/>
        </p:nvSpPr>
        <p:spPr>
          <a:xfrm>
            <a:off x="4541825" y="5943600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FFF3D6"/>
          </a:solidFill>
          <a:ln w="15875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/>
          <p:nvPr/>
        </p:nvSpPr>
        <p:spPr>
          <a:xfrm>
            <a:off x="4541825" y="5943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RESPONSE  (Text / Voice / GUI)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35" y="259690"/>
            <a:ext cx="2323490" cy="539496"/>
          </a:xfrm>
          <a:prstGeom prst="rect">
            <a:avLst/>
          </a:prstGeom>
        </p:spPr>
      </p:pic>
      <p:pic>
        <p:nvPicPr>
          <p:cNvPr id="3" name="Image 1" descr="/home/claude/work/assets/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2" y="172822"/>
            <a:ext cx="2146097" cy="71231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9905" y="274320"/>
            <a:ext cx="10972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 (DFD)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418986" y="122141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 : DFD Structure</a:t>
            </a:r>
            <a:endParaRPr lang="en-US" sz="2500" dirty="0"/>
          </a:p>
        </p:txBody>
      </p:sp>
      <p:sp>
        <p:nvSpPr>
          <p:cNvPr id="6" name="Shape 2"/>
          <p:cNvSpPr/>
          <p:nvPr/>
        </p:nvSpPr>
        <p:spPr>
          <a:xfrm>
            <a:off x="1707185" y="2057400"/>
            <a:ext cx="2926080" cy="502920"/>
          </a:xfrm>
          <a:prstGeom prst="roundRect">
            <a:avLst>
              <a:gd name="adj" fmla="val 10909"/>
            </a:avLst>
          </a:prstGeom>
          <a:solidFill>
            <a:srgbClr val="EAFBEF"/>
          </a:solidFill>
          <a:ln w="15875">
            <a:solidFill>
              <a:srgbClr val="2E8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1707185" y="2057400"/>
            <a:ext cx="29260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3078785" y="2606040"/>
            <a:ext cx="182880" cy="320040"/>
          </a:xfrm>
          <a:prstGeom prst="downArrow">
            <a:avLst/>
          </a:prstGeom>
          <a:solidFill>
            <a:srgbClr val="8C8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1707185" y="3017520"/>
            <a:ext cx="2926080" cy="502920"/>
          </a:xfrm>
          <a:prstGeom prst="roundRect">
            <a:avLst>
              <a:gd name="adj" fmla="val 10909"/>
            </a:avLst>
          </a:prstGeom>
          <a:solidFill>
            <a:srgbClr val="EAFBEF"/>
          </a:solidFill>
          <a:ln w="15875">
            <a:solidFill>
              <a:srgbClr val="2E8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1707185" y="3017520"/>
            <a:ext cx="29260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J.A.R.V.I.S AI ASSISTANT SYS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078785" y="3566160"/>
            <a:ext cx="182880" cy="320040"/>
          </a:xfrm>
          <a:prstGeom prst="downArrow">
            <a:avLst/>
          </a:prstGeom>
          <a:solidFill>
            <a:srgbClr val="8C8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1707185" y="3977640"/>
            <a:ext cx="2926080" cy="502920"/>
          </a:xfrm>
          <a:prstGeom prst="roundRect">
            <a:avLst>
              <a:gd name="adj" fmla="val 10909"/>
            </a:avLst>
          </a:prstGeom>
          <a:solidFill>
            <a:srgbClr val="EAFBEF"/>
          </a:solidFill>
          <a:ln w="15875">
            <a:solidFill>
              <a:srgbClr val="2E8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1707185" y="3977640"/>
            <a:ext cx="29260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/ API / OS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181344" y="132200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: DFD Structure</a:t>
            </a:r>
            <a:endParaRPr lang="en-US" sz="2500" dirty="0"/>
          </a:p>
        </p:txBody>
      </p:sp>
      <p:sp>
        <p:nvSpPr>
          <p:cNvPr id="15" name="Shape 11"/>
          <p:cNvSpPr/>
          <p:nvPr/>
        </p:nvSpPr>
        <p:spPr>
          <a:xfrm>
            <a:off x="7589520" y="196596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EAFBEF"/>
          </a:solidFill>
          <a:ln w="15875">
            <a:solidFill>
              <a:srgbClr val="2E8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7589520" y="1965960"/>
            <a:ext cx="2377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695944" y="2368296"/>
            <a:ext cx="164592" cy="201168"/>
          </a:xfrm>
          <a:prstGeom prst="downArrow">
            <a:avLst/>
          </a:prstGeom>
          <a:solidFill>
            <a:srgbClr val="8C8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7589520" y="260604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EAFBEF"/>
          </a:solidFill>
          <a:ln w="15875">
            <a:solidFill>
              <a:srgbClr val="2E8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7589520" y="2606040"/>
            <a:ext cx="2377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/ TEXT INPUT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695944" y="3008376"/>
            <a:ext cx="164592" cy="201168"/>
          </a:xfrm>
          <a:prstGeom prst="downArrow">
            <a:avLst/>
          </a:prstGeom>
          <a:solidFill>
            <a:srgbClr val="8C8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7589520" y="324612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EAFBEF"/>
          </a:solidFill>
          <a:ln w="15875">
            <a:solidFill>
              <a:srgbClr val="2E8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7589520" y="3246120"/>
            <a:ext cx="2377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RECOGNITION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8695944" y="3648456"/>
            <a:ext cx="164592" cy="201168"/>
          </a:xfrm>
          <a:prstGeom prst="downArrow">
            <a:avLst/>
          </a:prstGeom>
          <a:solidFill>
            <a:srgbClr val="8C8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7589520" y="388620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EAFBEF"/>
          </a:solidFill>
          <a:ln w="15875">
            <a:solidFill>
              <a:srgbClr val="2E8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7589520" y="3886200"/>
            <a:ext cx="2377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ENGINE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8695944" y="4288536"/>
            <a:ext cx="164592" cy="201168"/>
          </a:xfrm>
          <a:prstGeom prst="downArrow">
            <a:avLst/>
          </a:prstGeom>
          <a:solidFill>
            <a:srgbClr val="8C8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7589520" y="452628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EAFBEF"/>
          </a:solidFill>
          <a:ln w="15875">
            <a:solidFill>
              <a:srgbClr val="2E8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7589520" y="4526280"/>
            <a:ext cx="2377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ROUTER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8695944" y="4928616"/>
            <a:ext cx="164592" cy="201168"/>
          </a:xfrm>
          <a:prstGeom prst="downArrow">
            <a:avLst/>
          </a:prstGeom>
          <a:solidFill>
            <a:srgbClr val="8C8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327648" y="5166360"/>
            <a:ext cx="1170432" cy="384048"/>
          </a:xfrm>
          <a:prstGeom prst="roundRect">
            <a:avLst>
              <a:gd name="adj" fmla="val 14286"/>
            </a:avLst>
          </a:prstGeom>
          <a:solidFill>
            <a:srgbClr val="EAFBEF"/>
          </a:solidFill>
          <a:ln w="15875">
            <a:solidFill>
              <a:srgbClr val="2E8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6327648" y="5166360"/>
            <a:ext cx="1170432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7571232" y="5166360"/>
            <a:ext cx="1170432" cy="384048"/>
          </a:xfrm>
          <a:prstGeom prst="roundRect">
            <a:avLst>
              <a:gd name="adj" fmla="val 14286"/>
            </a:avLst>
          </a:prstGeom>
          <a:solidFill>
            <a:srgbClr val="EAFBEF"/>
          </a:solidFill>
          <a:ln w="15875">
            <a:solidFill>
              <a:srgbClr val="2E8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7571232" y="5166360"/>
            <a:ext cx="1170432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8814816" y="5166360"/>
            <a:ext cx="1170432" cy="384048"/>
          </a:xfrm>
          <a:prstGeom prst="roundRect">
            <a:avLst>
              <a:gd name="adj" fmla="val 14286"/>
            </a:avLst>
          </a:prstGeom>
          <a:solidFill>
            <a:srgbClr val="EAFBEF"/>
          </a:solidFill>
          <a:ln w="15875">
            <a:solidFill>
              <a:srgbClr val="2E8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8814816" y="5166360"/>
            <a:ext cx="1170432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10058400" y="5166360"/>
            <a:ext cx="1170432" cy="384048"/>
          </a:xfrm>
          <a:prstGeom prst="roundRect">
            <a:avLst>
              <a:gd name="adj" fmla="val 14286"/>
            </a:avLst>
          </a:prstGeom>
          <a:solidFill>
            <a:srgbClr val="EAFBEF"/>
          </a:solidFill>
          <a:ln w="15875">
            <a:solidFill>
              <a:srgbClr val="2E8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10058400" y="5166360"/>
            <a:ext cx="1170432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8695944" y="5568696"/>
            <a:ext cx="164592" cy="182880"/>
          </a:xfrm>
          <a:prstGeom prst="downArrow">
            <a:avLst/>
          </a:prstGeom>
          <a:solidFill>
            <a:srgbClr val="8C8C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5"/>
          <p:cNvSpPr/>
          <p:nvPr/>
        </p:nvSpPr>
        <p:spPr>
          <a:xfrm>
            <a:off x="7589520" y="5751576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FF3D6"/>
          </a:solidFill>
          <a:ln w="15875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/>
          <p:nvPr/>
        </p:nvSpPr>
        <p:spPr>
          <a:xfrm>
            <a:off x="7589520" y="5751576"/>
            <a:ext cx="2377440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VOICE RESPONSE</a:t>
            </a:r>
            <a:endParaRPr lang="en-US" sz="10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C7110EBA-9460-1923-A67C-EE2427B538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548" y="1687762"/>
            <a:ext cx="4503372" cy="517023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378A2B4F-18B5-8DB7-A76B-BEB5B232A0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920" y="1782937"/>
            <a:ext cx="7429079" cy="50750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35" y="259690"/>
            <a:ext cx="2323490" cy="539496"/>
          </a:xfrm>
          <a:prstGeom prst="rect">
            <a:avLst/>
          </a:prstGeom>
        </p:spPr>
      </p:pic>
      <p:pic>
        <p:nvPicPr>
          <p:cNvPr id="3" name="Image 1" descr="/home/claude/work/assets/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2" y="172822"/>
            <a:ext cx="2146097" cy="71231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9905" y="274320"/>
            <a:ext cx="10972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&amp; Features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609905" y="1600200"/>
            <a:ext cx="53035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Module – graphical interface &amp; user interaction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Processing Module – speech recognition &amp; voice output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Module – processes &amp; understands user commands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Router Module – redirects commands to modules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6217920" y="1600200"/>
            <a:ext cx="53035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Module – controls apps, browser &amp; files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Module – live weather via OpenWeather API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Module – stores command history (SQLite)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Analytics Modules – user data and usage charts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35" y="259690"/>
            <a:ext cx="2323490" cy="539496"/>
          </a:xfrm>
          <a:prstGeom prst="rect">
            <a:avLst/>
          </a:prstGeom>
        </p:spPr>
      </p:pic>
      <p:pic>
        <p:nvPicPr>
          <p:cNvPr id="3" name="Image 1" descr="/home/claude/work/assets/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2" y="172822"/>
            <a:ext cx="2146097" cy="71231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9905" y="274320"/>
            <a:ext cx="10972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Learning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609905" y="1600200"/>
            <a:ext cx="1097280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voice recognition &amp; text-to-speech (SpeechRecognition, pyttsx3)</a:t>
            </a:r>
            <a:endParaRPr lang="en-US" sz="25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NLP concepts for processing user commands</a:t>
            </a:r>
            <a:endParaRPr lang="en-US" sz="25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responsive GUI with CustomTkinter and real-time updates</a:t>
            </a:r>
            <a:endParaRPr lang="en-US" sz="25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multithreading to run voice listening &amp; monitoring in background</a:t>
            </a:r>
            <a:endParaRPr lang="en-US" sz="25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a SQLite database for history and memory storage</a:t>
            </a:r>
            <a:endParaRPr lang="en-US" sz="25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an external API (OpenWeather) for live data</a:t>
            </a:r>
            <a:endParaRPr lang="en-US" sz="2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35" y="259690"/>
            <a:ext cx="2323490" cy="539496"/>
          </a:xfrm>
          <a:prstGeom prst="rect">
            <a:avLst/>
          </a:prstGeom>
        </p:spPr>
      </p:pic>
      <p:pic>
        <p:nvPicPr>
          <p:cNvPr id="3" name="Image 1" descr="/home/claude/work/assets/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2" y="172822"/>
            <a:ext cx="2146097" cy="71231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9905" y="274320"/>
            <a:ext cx="10972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609905" y="1600200"/>
            <a:ext cx="1097280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Software Foundation – Python Documentation</a:t>
            </a:r>
            <a:endParaRPr lang="en-US" sz="25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CustomTkinter Documentation</a:t>
            </a:r>
            <a:endParaRPr lang="en-US" sz="25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SpeechRecognition &amp; pyttsx3 Library Documentation</a:t>
            </a:r>
            <a:endParaRPr lang="en-US" sz="25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Documentation</a:t>
            </a:r>
            <a:endParaRPr lang="en-US" sz="25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 API Documentation</a:t>
            </a:r>
            <a:endParaRPr lang="en-US" sz="25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&amp; psutil Documentation</a:t>
            </a:r>
            <a:endParaRPr lang="en-US" sz="2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35" y="259690"/>
            <a:ext cx="2323490" cy="539496"/>
          </a:xfrm>
          <a:prstGeom prst="rect">
            <a:avLst/>
          </a:prstGeom>
        </p:spPr>
      </p:pic>
      <p:pic>
        <p:nvPicPr>
          <p:cNvPr id="3" name="Image 1" descr="/home/claude/work/assets/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2" y="172822"/>
            <a:ext cx="2146097" cy="712318"/>
          </a:xfrm>
          <a:prstGeom prst="rect">
            <a:avLst/>
          </a:prstGeom>
        </p:spPr>
      </p:pic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BC8885C3-6F8B-36C1-489B-BD624C7961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729" y="1499581"/>
            <a:ext cx="4951573" cy="4577798"/>
          </a:xfrm>
          <a:prstGeom prst="rect">
            <a:avLst/>
          </a:prstGeom>
        </p:spPr>
      </p:pic>
      <p:sp>
        <p:nvSpPr>
          <p:cNvPr id="10" name="Text 2">
            <a:extLst>
              <a:ext uri="{FF2B5EF4-FFF2-40B4-BE49-F238E27FC236}">
                <a16:creationId xmlns:a16="http://schemas.microsoft.com/office/drawing/2014/main" id="{620DD5DB-D131-95A8-A722-D01E8E9EEE24}"/>
              </a:ext>
            </a:extLst>
          </p:cNvPr>
          <p:cNvSpPr/>
          <p:nvPr/>
        </p:nvSpPr>
        <p:spPr>
          <a:xfrm>
            <a:off x="6095999" y="2847341"/>
            <a:ext cx="5469653" cy="323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2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 for your valuable time and kind attention.</a:t>
            </a:r>
            <a:endParaRPr lang="en-US" sz="2700" dirty="0"/>
          </a:p>
          <a:p>
            <a:pPr marL="0" indent="0" algn="ctr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Miral </a:t>
            </a:r>
            <a:r>
              <a:rPr lang="en-US" sz="2400" b="1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Dhankecha</a:t>
            </a:r>
            <a:r>
              <a:rPr lang="en-US" sz="2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endParaRPr lang="en-US" sz="240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2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 of Computer Applications, Marwadi University</a:t>
            </a:r>
            <a:endParaRPr lang="en-US" sz="250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E1C0C852-A077-1E81-BB5C-1017BF60854F}"/>
              </a:ext>
            </a:extLst>
          </p:cNvPr>
          <p:cNvSpPr/>
          <p:nvPr/>
        </p:nvSpPr>
        <p:spPr>
          <a:xfrm>
            <a:off x="6249637" y="1811079"/>
            <a:ext cx="4178006" cy="58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</a:t>
            </a:r>
            <a:endParaRPr lang="en-US" sz="3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838</Words>
  <Application>Microsoft Office PowerPoint</Application>
  <PresentationFormat>Widescreen</PresentationFormat>
  <Paragraphs>167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Inter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Min .</cp:lastModifiedBy>
  <cp:revision>10</cp:revision>
  <dcterms:created xsi:type="dcterms:W3CDTF">2026-08-05T03:23:43Z</dcterms:created>
  <dcterms:modified xsi:type="dcterms:W3CDTF">2026-08-05T04:30:27Z</dcterms:modified>
</cp:coreProperties>
</file>